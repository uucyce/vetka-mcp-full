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etka_gpt_1_UP1_PHalfa_0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AFAFA"/>
                </a:solidFill>
              </a:defRPr>
            </a:pPr>
            <a:r>
              <a:t>VETKA: The Spatial OS for AI-Native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F5737"/>
                </a:solidFill>
              </a:defRPr>
            </a:pPr>
            <a:r>
              <a:t>Eternal Memory, Agent Orchestration &amp; Multimodal Knowledge Graphs</a:t>
            </a:r>
            <a:br/>
            <a:r>
              <a:t>Investor Opportunity: $10M Seed for 2026 Hypergrowth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FAFA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Problem: Knowledge silos and 'agent amnesia' (90% hallucination waste).</a:t>
            </a:r>
          </a:p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Solution: VETKA – A Universal Spatial OS using 3D DAG graphs for reality montage.</a:t>
            </a:r>
          </a:p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Traction: Live prototype (Phase 153), 700+ nodes, multimodal artifact scanning.</a:t>
            </a:r>
          </a:p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Ask: $10M Seed ($2M MVP + $8M Scale) to reach $50M ARR by 2027.</a:t>
            </a:r>
          </a:p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Why Now: The explosion of AI agents requires a foundational Operating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FAFA"/>
                </a:solidFill>
                <a:latin typeface="Arial"/>
              </a:defRPr>
            </a:pPr>
            <a:r>
              <a:t>What is VETKA? (Core Vision)</a:t>
            </a:r>
          </a:p>
        </p:txBody>
      </p:sp>
      <p:pic>
        <p:nvPicPr>
          <p:cNvPr id="4" name="Picture 3" descr="Screenshot 2026-02-18 at 01.19.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3499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200">
                <a:solidFill>
                  <a:srgbClr val="FAFAFA"/>
                </a:solidFill>
              </a:defRPr>
            </a:pPr>
            <a:r>
              <a:t>Spatial 3D Graphs: Files as nodes, semantic/temporal links as edges.</a:t>
            </a:r>
          </a:p>
          <a:p>
            <a:pPr>
              <a:spcAft>
                <a:spcPts val="1500"/>
              </a:spcAft>
              <a:defRPr sz="2200">
                <a:solidFill>
                  <a:srgbClr val="FAFAFA"/>
                </a:solidFill>
              </a:defRPr>
            </a:pPr>
            <a:r>
              <a:t>Eternal Memory: Qdrant/Weaviate triples ensure zero context loss.</a:t>
            </a:r>
          </a:p>
          <a:p>
            <a:pPr>
              <a:spcAft>
                <a:spcPts val="1500"/>
              </a:spcAft>
              <a:defRPr sz="2200">
                <a:solidFill>
                  <a:srgbClr val="FAFAFA"/>
                </a:solidFill>
              </a:defRPr>
            </a:pPr>
            <a:r>
              <a:t>Local-First + MCP: Tauri desktop privacy with remote GPU scaling.</a:t>
            </a:r>
          </a:p>
          <a:p>
            <a:pPr>
              <a:spcAft>
                <a:spcPts val="1500"/>
              </a:spcAft>
              <a:defRPr sz="2200">
                <a:solidFill>
                  <a:srgbClr val="FAFAFA"/>
                </a:solidFill>
              </a:defRPr>
            </a:pPr>
            <a:r>
              <a:t>MYCELIUM: The command center layer for agent orchestration.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FAFA"/>
                </a:solidFill>
                <a:latin typeface="Arial"/>
              </a:defRPr>
            </a:pPr>
            <a:r>
              <a:t>Phased Roadmap to Revenue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2296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>
                    <a:solidFill>
                      <a:srgbClr val="BF5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Q4'24</a:t>
                      </a:r>
                    </a:p>
                  </a:txBody>
                  <a:tcPr>
                    <a:solidFill>
                      <a:srgbClr val="BF5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Q1'25</a:t>
                      </a:r>
                    </a:p>
                  </a:txBody>
                  <a:tcPr>
                    <a:solidFill>
                      <a:srgbClr val="BF5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Q2'25</a:t>
                      </a:r>
                    </a:p>
                  </a:txBody>
                  <a:tcPr>
                    <a:solidFill>
                      <a:srgbClr val="BF5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2026+</a:t>
                      </a:r>
                    </a:p>
                  </a:txBody>
                  <a:tcPr>
                    <a:solidFill>
                      <a:srgbClr val="BF573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Multimodal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Local 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SaaS 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Full SaaS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Artifact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Agent 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Cloud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1K Nodes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100 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Bootstrap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$10K 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$100K MRR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AFAFA"/>
                          </a:solidFill>
                        </a:defRPr>
                      </a:pPr>
                      <a:r>
                        <a:t>$5M ARR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FAFA"/>
                </a:solidFill>
                <a:latin typeface="Arial"/>
              </a:defRPr>
            </a:pPr>
            <a:r>
              <a:t>Market Analysis: TAM $5B+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0"/>
              </a:spcAft>
              <a:defRPr sz="3200" b="1">
                <a:solidFill>
                  <a:srgbClr val="BF5737"/>
                </a:solidFill>
              </a:defRPr>
            </a:pPr>
            <a:r>
              <a:t>Knowledge Tools: $50B (Focusing on Cursor/Notion subset)</a:t>
            </a:r>
          </a:p>
          <a:p>
            <a:pPr>
              <a:spcAft>
                <a:spcPts val="3000"/>
              </a:spcAft>
              <a:defRPr sz="3200" b="1">
                <a:solidFill>
                  <a:srgbClr val="BF5737"/>
                </a:solidFill>
              </a:defRPr>
            </a:pPr>
            <a:r>
              <a:t>Agent Orchestration: $10B (Emerging: LangChain/Replit)</a:t>
            </a:r>
          </a:p>
          <a:p>
            <a:pPr>
              <a:spcAft>
                <a:spcPts val="3000"/>
              </a:spcAft>
              <a:defRPr sz="3200" b="1">
                <a:solidFill>
                  <a:srgbClr val="BF5737"/>
                </a:solidFill>
              </a:defRPr>
            </a:pPr>
            <a:r>
              <a:t>Spatial Compute: $5B (Blender/Unity + AI convergence)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FAFA"/>
                </a:solidFill>
                <a:latin typeface="Arial"/>
              </a:defRPr>
            </a:pPr>
            <a:r>
              <a:t>The Hybrid SaaS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474720" cy="3657600"/>
          </a:xfrm>
          <a:prstGeom prst="rect">
            <a:avLst/>
          </a:prstGeom>
          <a:solidFill>
            <a:srgbClr val="282828"/>
          </a:solidFill>
        </p:spPr>
        <p:txBody>
          <a:bodyPr wrap="none">
            <a:spAutoFit/>
          </a:bodyPr>
          <a:lstStyle/>
          <a:p>
            <a:r>
              <a:t>FREE</a:t>
            </a:r>
            <a:br/>
            <a:r>
              <a:t>Local Core</a:t>
            </a:r>
            <a:br/>
            <a:r>
              <a:t>1K Nodes</a:t>
            </a:r>
            <a:br/>
            <a:r>
              <a:t>Basic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828800"/>
            <a:ext cx="3474720" cy="3657600"/>
          </a:xfrm>
          <a:prstGeom prst="rect">
            <a:avLst/>
          </a:prstGeom>
          <a:solidFill>
            <a:srgbClr val="282828"/>
          </a:solidFill>
        </p:spPr>
        <p:txBody>
          <a:bodyPr wrap="none">
            <a:spAutoFit/>
          </a:bodyPr>
          <a:lstStyle/>
          <a:p>
            <a:r>
              <a:t>PRO ($29/mo)</a:t>
            </a:r>
            <a:br/>
            <a:r>
              <a:t>Unlimited Nodes</a:t>
            </a:r>
            <a:br/>
            <a:r>
              <a:t>Mycelium Pro</a:t>
            </a:r>
            <a:br/>
            <a:r>
              <a:t>Local MCPs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828800"/>
            <a:ext cx="3474720" cy="3657600"/>
          </a:xfrm>
          <a:prstGeom prst="rect">
            <a:avLst/>
          </a:prstGeom>
          <a:solidFill>
            <a:srgbClr val="BF5737"/>
          </a:solidFill>
        </p:spPr>
        <p:txBody>
          <a:bodyPr wrap="none">
            <a:spAutoFit/>
          </a:bodyPr>
          <a:lstStyle/>
          <a:p>
            <a:r>
              <a:t>ENTERPRISE ($99/mo)</a:t>
            </a:r>
            <a:br/>
            <a:r>
              <a:t>Cloud MCPs (GPU)</a:t>
            </a:r>
            <a:br/>
            <a:r>
              <a:t>Team Sync</a:t>
            </a:r>
            <a:br/>
            <a:r>
              <a:t>Custom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FAFA"/>
                </a:solidFill>
                <a:latin typeface="Arial"/>
              </a:defRPr>
            </a:pPr>
            <a:r>
              <a:t>The Ask: $10M 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40% Engineering: Rust, 3D Graphics, &amp; AI Orchestration.</a:t>
            </a:r>
          </a:p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30% Cloud Infrastructure: Managed MCPs and GPU clusters.</a:t>
            </a:r>
          </a:p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20% GTM: Partnerships with Ollama, Replit, and Anthropic.</a:t>
            </a:r>
          </a:p>
          <a:p>
            <a:pPr>
              <a:spcAft>
                <a:spcPts val="2000"/>
              </a:spcAft>
              <a:defRPr sz="2800">
                <a:solidFill>
                  <a:srgbClr val="FAFAFA"/>
                </a:solidFill>
              </a:defRPr>
            </a:pPr>
            <a:r>
              <a:t>• 10% Operations &amp;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